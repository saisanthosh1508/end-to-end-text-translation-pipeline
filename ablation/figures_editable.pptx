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latin typeface="Calibri"/>
              </a:rPr>
              <a:t>Customised YOLOv11 architecture for text detection</a:t>
            </a:r>
          </a:p>
          <a:p>
            <a:r>
              <a:rPr sz="950">
                <a:solidFill>
                  <a:srgbClr val="595959"/>
                </a:solidFill>
                <a:latin typeface="Calibri"/>
              </a:rPr>
              <a:t>Every block derived from full_legacy.yaml. Channels shown for the s scale (width 0.50); grids for a 480x480 input. Grey elbow arrows are skip connections.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0332" y="1248156"/>
            <a:ext cx="1778965" cy="713232"/>
          </a:xfrm>
          <a:prstGeom prst="roundRect">
            <a:avLst/>
          </a:prstGeom>
          <a:solidFill>
            <a:srgbClr val="FCE4C8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0  Conv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c=32  240x240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4745" y="1248156"/>
            <a:ext cx="1778965" cy="713232"/>
          </a:xfrm>
          <a:prstGeom prst="roundRect">
            <a:avLst/>
          </a:prstGeom>
          <a:solidFill>
            <a:srgbClr val="FCE4C8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  Conv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c=64  120x120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9158" y="1248156"/>
            <a:ext cx="1778965" cy="713232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2  C3k2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c=128  120x120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3571" y="1248156"/>
            <a:ext cx="1778965" cy="713232"/>
          </a:xfrm>
          <a:prstGeom prst="roundRect">
            <a:avLst/>
          </a:prstGeom>
          <a:solidFill>
            <a:srgbClr val="FCE4C8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3  Conv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c=128  60x60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7984" y="1248156"/>
            <a:ext cx="1778965" cy="713232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4  C3k2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c=256  60x60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42397" y="1248156"/>
            <a:ext cx="1778965" cy="713232"/>
          </a:xfrm>
          <a:prstGeom prst="roundRect">
            <a:avLst/>
          </a:prstGeom>
          <a:solidFill>
            <a:srgbClr val="FCE4C8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5  Conv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c=256  30x30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" y="2354580"/>
            <a:ext cx="1778965" cy="713232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6  C3k2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c=256  30x30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4745" y="2354580"/>
            <a:ext cx="1778965" cy="713232"/>
          </a:xfrm>
          <a:prstGeom prst="roundRect">
            <a:avLst/>
          </a:prstGeom>
          <a:solidFill>
            <a:srgbClr val="FCE4C8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7  Conv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c=512  15x15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9158" y="2354580"/>
            <a:ext cx="1778965" cy="713232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8  C3k2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c=512  15x15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3571" y="2354580"/>
            <a:ext cx="1778965" cy="713232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9  SPPF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c=512  15x15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984" y="2354580"/>
            <a:ext cx="1778965" cy="713232"/>
          </a:xfrm>
          <a:prstGeom prst="roundRect">
            <a:avLst/>
          </a:prstGeom>
          <a:solidFill>
            <a:srgbClr val="FCE4C8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10  Conv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c=512  15x15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42397" y="2354580"/>
            <a:ext cx="1778965" cy="713232"/>
          </a:xfrm>
          <a:prstGeom prst="roundRect">
            <a:avLst/>
          </a:prstGeom>
          <a:solidFill>
            <a:srgbClr val="E8503A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11  CrossAttentionBlock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c=512  15x15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" y="3461004"/>
            <a:ext cx="1778965" cy="713232"/>
          </a:xfrm>
          <a:prstGeom prst="roundRect">
            <a:avLst/>
          </a:prstGeom>
          <a:solidFill>
            <a:srgbClr val="F2A9D2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12  MultiScaleCBAM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c=512  15x15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4745" y="3461004"/>
            <a:ext cx="1778965" cy="713232"/>
          </a:xfrm>
          <a:prstGeom prst="roundRect">
            <a:avLst/>
          </a:prstGeom>
          <a:solidFill>
            <a:srgbClr val="F8CBAD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13  Upsample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c=512  30x30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9158" y="3461004"/>
            <a:ext cx="1778965" cy="713232"/>
          </a:xfrm>
          <a:prstGeom prst="roundRect">
            <a:avLst/>
          </a:prstGeom>
          <a:solidFill>
            <a:srgbClr val="A9D18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14  Concat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c=768  30x30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3571" y="3461004"/>
            <a:ext cx="1778965" cy="713232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15  C3k2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c=256  30x30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7984" y="3461004"/>
            <a:ext cx="1778965" cy="713232"/>
          </a:xfrm>
          <a:prstGeom prst="roundRect">
            <a:avLst/>
          </a:prstGeom>
          <a:solidFill>
            <a:srgbClr val="F8CBAD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16  Upsample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c=256  60x60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42397" y="3461004"/>
            <a:ext cx="1778965" cy="713232"/>
          </a:xfrm>
          <a:prstGeom prst="roundRect">
            <a:avLst/>
          </a:prstGeom>
          <a:solidFill>
            <a:srgbClr val="A9D18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17  Concat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c=512  60x60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" y="4567428"/>
            <a:ext cx="1778965" cy="713232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18  C3k2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c=128  60x60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04745" y="4567428"/>
            <a:ext cx="1778965" cy="713232"/>
          </a:xfrm>
          <a:prstGeom prst="roundRect">
            <a:avLst/>
          </a:prstGeom>
          <a:solidFill>
            <a:srgbClr val="F2A9D2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19  MultiScaleCBAM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c=128  60x60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39158" y="4567428"/>
            <a:ext cx="1778965" cy="713232"/>
          </a:xfrm>
          <a:prstGeom prst="roundRect">
            <a:avLst/>
          </a:prstGeom>
          <a:solidFill>
            <a:srgbClr val="FCE4C8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20  Conv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c=128  30x30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3571" y="4567428"/>
            <a:ext cx="1778965" cy="713232"/>
          </a:xfrm>
          <a:prstGeom prst="roundRect">
            <a:avLst/>
          </a:prstGeom>
          <a:solidFill>
            <a:srgbClr val="A9D18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21  Concat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c=640  30x30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7984" y="4567428"/>
            <a:ext cx="1778965" cy="713232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22  C3k2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c=256  30x30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2397" y="4567428"/>
            <a:ext cx="1778965" cy="713232"/>
          </a:xfrm>
          <a:prstGeom prst="roundRect">
            <a:avLst/>
          </a:prstGeom>
          <a:solidFill>
            <a:srgbClr val="F2A9D2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23  MultiScaleCBAM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c=256  30x30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" y="5673852"/>
            <a:ext cx="1778965" cy="713232"/>
          </a:xfrm>
          <a:prstGeom prst="roundRect">
            <a:avLst/>
          </a:prstGeom>
          <a:solidFill>
            <a:srgbClr val="FCE4C8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24  Conv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c=256  15x15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04745" y="5673852"/>
            <a:ext cx="1778965" cy="713232"/>
          </a:xfrm>
          <a:prstGeom prst="roundRect">
            <a:avLst/>
          </a:prstGeom>
          <a:solidFill>
            <a:srgbClr val="A9D18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25  Concat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c=1280  15x15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39158" y="5673852"/>
            <a:ext cx="1778965" cy="713232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26  C3k2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c=512  15x15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3571" y="5673852"/>
            <a:ext cx="1778965" cy="713232"/>
          </a:xfrm>
          <a:prstGeom prst="roundRect">
            <a:avLst/>
          </a:prstGeom>
          <a:solidFill>
            <a:srgbClr val="F2A9D2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Calibri"/>
              </a:rPr>
              <a:t>27  MultiScaleCBAM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c=512  15x15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7984" y="5673852"/>
            <a:ext cx="1778965" cy="713232"/>
          </a:xfrm>
          <a:prstGeom prst="roundRect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28  OBB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P3/P4/P5  60/30/15</a:t>
            </a:r>
          </a:p>
        </p:txBody>
      </p:sp>
      <p:cxnSp>
        <p:nvCxnSpPr>
          <p:cNvPr id="32" name="Connector 31"/>
          <p:cNvCxnSpPr>
            <a:stCxn id="3" idx="3"/>
            <a:endCxn id="4" idx="1"/>
          </p:cNvCxnSpPr>
          <p:nvPr/>
        </p:nvCxnSpPr>
        <p:spPr>
          <a:xfrm flipV="1">
            <a:off x="2149297" y="1604772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4" idx="3"/>
            <a:endCxn id="5" idx="1"/>
          </p:cNvCxnSpPr>
          <p:nvPr/>
        </p:nvCxnSpPr>
        <p:spPr>
          <a:xfrm flipV="1">
            <a:off x="4083710" y="1604772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5" idx="3"/>
            <a:endCxn id="6" idx="1"/>
          </p:cNvCxnSpPr>
          <p:nvPr/>
        </p:nvCxnSpPr>
        <p:spPr>
          <a:xfrm flipV="1">
            <a:off x="6018123" y="1604772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6" idx="3"/>
            <a:endCxn id="7" idx="1"/>
          </p:cNvCxnSpPr>
          <p:nvPr/>
        </p:nvCxnSpPr>
        <p:spPr>
          <a:xfrm flipV="1">
            <a:off x="7952536" y="1604772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7" idx="3"/>
            <a:endCxn id="8" idx="1"/>
          </p:cNvCxnSpPr>
          <p:nvPr/>
        </p:nvCxnSpPr>
        <p:spPr>
          <a:xfrm flipV="1">
            <a:off x="9886949" y="1604772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8" idx="3"/>
            <a:endCxn id="9" idx="1"/>
          </p:cNvCxnSpPr>
          <p:nvPr/>
        </p:nvCxnSpPr>
        <p:spPr>
          <a:xfrm flipH="1">
            <a:off x="370332" y="1604772"/>
            <a:ext cx="11451030" cy="1106424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9" idx="3"/>
            <a:endCxn id="10" idx="1"/>
          </p:cNvCxnSpPr>
          <p:nvPr/>
        </p:nvCxnSpPr>
        <p:spPr>
          <a:xfrm flipV="1">
            <a:off x="2149297" y="2711196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10" idx="3"/>
            <a:endCxn id="11" idx="1"/>
          </p:cNvCxnSpPr>
          <p:nvPr/>
        </p:nvCxnSpPr>
        <p:spPr>
          <a:xfrm flipV="1">
            <a:off x="4083710" y="2711196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11" idx="3"/>
            <a:endCxn id="12" idx="1"/>
          </p:cNvCxnSpPr>
          <p:nvPr/>
        </p:nvCxnSpPr>
        <p:spPr>
          <a:xfrm flipV="1">
            <a:off x="6018123" y="2711196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12" idx="3"/>
            <a:endCxn id="13" idx="1"/>
          </p:cNvCxnSpPr>
          <p:nvPr/>
        </p:nvCxnSpPr>
        <p:spPr>
          <a:xfrm flipV="1">
            <a:off x="7952536" y="2711196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8" idx="2"/>
            <a:endCxn id="14" idx="0"/>
          </p:cNvCxnSpPr>
          <p:nvPr/>
        </p:nvCxnSpPr>
        <p:spPr>
          <a:xfrm flipH="1">
            <a:off x="10931879" y="1961388"/>
            <a:ext cx="0" cy="393192"/>
          </a:xfrm>
          <a:prstGeom prst="bentConnector3">
            <a:avLst/>
          </a:prstGeom>
          <a:ln w="12700">
            <a:solidFill>
              <a:srgbClr val="7F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13" idx="3"/>
            <a:endCxn id="14" idx="1"/>
          </p:cNvCxnSpPr>
          <p:nvPr/>
        </p:nvCxnSpPr>
        <p:spPr>
          <a:xfrm flipV="1">
            <a:off x="9886949" y="2711196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4" idx="3"/>
            <a:endCxn id="15" idx="1"/>
          </p:cNvCxnSpPr>
          <p:nvPr/>
        </p:nvCxnSpPr>
        <p:spPr>
          <a:xfrm flipH="1">
            <a:off x="370332" y="2711196"/>
            <a:ext cx="11451030" cy="1106424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5" idx="3"/>
            <a:endCxn id="16" idx="1"/>
          </p:cNvCxnSpPr>
          <p:nvPr/>
        </p:nvCxnSpPr>
        <p:spPr>
          <a:xfrm flipV="1">
            <a:off x="2149297" y="3817620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16" idx="3"/>
            <a:endCxn id="17" idx="1"/>
          </p:cNvCxnSpPr>
          <p:nvPr/>
        </p:nvCxnSpPr>
        <p:spPr>
          <a:xfrm flipV="1">
            <a:off x="4083710" y="3817620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9" idx="2"/>
            <a:endCxn id="17" idx="0"/>
          </p:cNvCxnSpPr>
          <p:nvPr/>
        </p:nvCxnSpPr>
        <p:spPr>
          <a:xfrm>
            <a:off x="1259814" y="3067812"/>
            <a:ext cx="3868826" cy="393192"/>
          </a:xfrm>
          <a:prstGeom prst="bentConnector3">
            <a:avLst/>
          </a:prstGeom>
          <a:ln w="12700">
            <a:solidFill>
              <a:srgbClr val="7F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7" idx="3"/>
            <a:endCxn id="18" idx="1"/>
          </p:cNvCxnSpPr>
          <p:nvPr/>
        </p:nvCxnSpPr>
        <p:spPr>
          <a:xfrm flipV="1">
            <a:off x="6018123" y="3817620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18" idx="3"/>
            <a:endCxn id="19" idx="1"/>
          </p:cNvCxnSpPr>
          <p:nvPr/>
        </p:nvCxnSpPr>
        <p:spPr>
          <a:xfrm flipV="1">
            <a:off x="7952536" y="3817620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stCxn id="19" idx="3"/>
            <a:endCxn id="20" idx="1"/>
          </p:cNvCxnSpPr>
          <p:nvPr/>
        </p:nvCxnSpPr>
        <p:spPr>
          <a:xfrm flipV="1">
            <a:off x="9886949" y="3817620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stCxn id="7" idx="2"/>
            <a:endCxn id="20" idx="0"/>
          </p:cNvCxnSpPr>
          <p:nvPr/>
        </p:nvCxnSpPr>
        <p:spPr>
          <a:xfrm>
            <a:off x="8997466" y="1961388"/>
            <a:ext cx="1934413" cy="1499616"/>
          </a:xfrm>
          <a:prstGeom prst="bentConnector3">
            <a:avLst/>
          </a:prstGeom>
          <a:ln w="12700">
            <a:solidFill>
              <a:srgbClr val="7F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20" idx="3"/>
            <a:endCxn id="21" idx="1"/>
          </p:cNvCxnSpPr>
          <p:nvPr/>
        </p:nvCxnSpPr>
        <p:spPr>
          <a:xfrm flipH="1">
            <a:off x="370332" y="3817620"/>
            <a:ext cx="11451030" cy="1106424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21" idx="3"/>
            <a:endCxn id="22" idx="1"/>
          </p:cNvCxnSpPr>
          <p:nvPr/>
        </p:nvCxnSpPr>
        <p:spPr>
          <a:xfrm flipV="1">
            <a:off x="2149297" y="4924044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22" idx="3"/>
            <a:endCxn id="23" idx="1"/>
          </p:cNvCxnSpPr>
          <p:nvPr/>
        </p:nvCxnSpPr>
        <p:spPr>
          <a:xfrm flipV="1">
            <a:off x="4083710" y="4924044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23" idx="3"/>
            <a:endCxn id="24" idx="1"/>
          </p:cNvCxnSpPr>
          <p:nvPr/>
        </p:nvCxnSpPr>
        <p:spPr>
          <a:xfrm flipV="1">
            <a:off x="6018123" y="4924044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18" idx="2"/>
            <a:endCxn id="24" idx="0"/>
          </p:cNvCxnSpPr>
          <p:nvPr/>
        </p:nvCxnSpPr>
        <p:spPr>
          <a:xfrm flipH="1">
            <a:off x="7063053" y="4174236"/>
            <a:ext cx="0" cy="393192"/>
          </a:xfrm>
          <a:prstGeom prst="bentConnector3">
            <a:avLst/>
          </a:prstGeom>
          <a:ln w="12700">
            <a:solidFill>
              <a:srgbClr val="7F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9" idx="2"/>
            <a:endCxn id="24" idx="0"/>
          </p:cNvCxnSpPr>
          <p:nvPr/>
        </p:nvCxnSpPr>
        <p:spPr>
          <a:xfrm>
            <a:off x="1259814" y="3067812"/>
            <a:ext cx="5803239" cy="1499616"/>
          </a:xfrm>
          <a:prstGeom prst="bentConnector3">
            <a:avLst/>
          </a:prstGeom>
          <a:ln w="12700">
            <a:solidFill>
              <a:srgbClr val="7F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24" idx="3"/>
            <a:endCxn id="25" idx="1"/>
          </p:cNvCxnSpPr>
          <p:nvPr/>
        </p:nvCxnSpPr>
        <p:spPr>
          <a:xfrm flipV="1">
            <a:off x="7952536" y="4924044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25" idx="3"/>
            <a:endCxn id="26" idx="1"/>
          </p:cNvCxnSpPr>
          <p:nvPr/>
        </p:nvCxnSpPr>
        <p:spPr>
          <a:xfrm flipV="1">
            <a:off x="9886949" y="4924044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26" idx="3"/>
            <a:endCxn id="27" idx="1"/>
          </p:cNvCxnSpPr>
          <p:nvPr/>
        </p:nvCxnSpPr>
        <p:spPr>
          <a:xfrm flipH="1">
            <a:off x="370332" y="4924044"/>
            <a:ext cx="11451030" cy="1106424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27" idx="3"/>
            <a:endCxn id="28" idx="1"/>
          </p:cNvCxnSpPr>
          <p:nvPr/>
        </p:nvCxnSpPr>
        <p:spPr>
          <a:xfrm flipV="1">
            <a:off x="2149297" y="6030468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15" idx="2"/>
            <a:endCxn id="28" idx="0"/>
          </p:cNvCxnSpPr>
          <p:nvPr/>
        </p:nvCxnSpPr>
        <p:spPr>
          <a:xfrm>
            <a:off x="1259814" y="4174236"/>
            <a:ext cx="1934413" cy="1499616"/>
          </a:xfrm>
          <a:prstGeom prst="bentConnector3">
            <a:avLst/>
          </a:prstGeom>
          <a:ln w="12700">
            <a:solidFill>
              <a:srgbClr val="7F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13" idx="2"/>
            <a:endCxn id="28" idx="0"/>
          </p:cNvCxnSpPr>
          <p:nvPr/>
        </p:nvCxnSpPr>
        <p:spPr>
          <a:xfrm flipH="1">
            <a:off x="3194227" y="3067812"/>
            <a:ext cx="5803239" cy="2606040"/>
          </a:xfrm>
          <a:prstGeom prst="bentConnector3">
            <a:avLst/>
          </a:prstGeom>
          <a:ln w="12700">
            <a:solidFill>
              <a:srgbClr val="7F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>
            <a:stCxn id="28" idx="3"/>
            <a:endCxn id="29" idx="1"/>
          </p:cNvCxnSpPr>
          <p:nvPr/>
        </p:nvCxnSpPr>
        <p:spPr>
          <a:xfrm flipV="1">
            <a:off x="4083710" y="6030468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>
            <a:stCxn id="29" idx="3"/>
            <a:endCxn id="30" idx="1"/>
          </p:cNvCxnSpPr>
          <p:nvPr/>
        </p:nvCxnSpPr>
        <p:spPr>
          <a:xfrm flipV="1">
            <a:off x="6018123" y="6030468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22" idx="2"/>
            <a:endCxn id="31" idx="0"/>
          </p:cNvCxnSpPr>
          <p:nvPr/>
        </p:nvCxnSpPr>
        <p:spPr>
          <a:xfrm>
            <a:off x="3194227" y="5280660"/>
            <a:ext cx="5803239" cy="393192"/>
          </a:xfrm>
          <a:prstGeom prst="bentConnector3">
            <a:avLst/>
          </a:prstGeom>
          <a:ln w="12700">
            <a:solidFill>
              <a:srgbClr val="7F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26" idx="2"/>
            <a:endCxn id="31" idx="0"/>
          </p:cNvCxnSpPr>
          <p:nvPr/>
        </p:nvCxnSpPr>
        <p:spPr>
          <a:xfrm flipH="1">
            <a:off x="8997466" y="5280660"/>
            <a:ext cx="1934413" cy="393192"/>
          </a:xfrm>
          <a:prstGeom prst="bentConnector3">
            <a:avLst/>
          </a:prstGeom>
          <a:ln w="12700">
            <a:solidFill>
              <a:srgbClr val="7F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>
            <a:stCxn id="30" idx="3"/>
            <a:endCxn id="31" idx="1"/>
          </p:cNvCxnSpPr>
          <p:nvPr/>
        </p:nvCxnSpPr>
        <p:spPr>
          <a:xfrm flipV="1">
            <a:off x="7952536" y="6030468"/>
            <a:ext cx="155448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70332" y="85953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95959"/>
                </a:solidFill>
                <a:latin typeface="Calibri"/>
              </a:rPr>
              <a:t>Backbone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42397" y="196596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95959"/>
                </a:solidFill>
                <a:latin typeface="Calibri"/>
              </a:rPr>
              <a:t>Neck and 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latin typeface="Calibri"/>
              </a:rPr>
              <a:t>Cross-Attention block</a:t>
            </a:r>
          </a:p>
          <a:p>
            <a:r>
              <a:rPr sz="950">
                <a:solidFill>
                  <a:srgbClr val="595959"/>
                </a:solidFill>
                <a:latin typeface="Calibri"/>
              </a:rPr>
              <a:t>Query from layer 10 (P5/32); key and value from layer 5 (P4/16). Shapes are for the s scale.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600200"/>
            <a:ext cx="2286000" cy="960120"/>
          </a:xfrm>
          <a:prstGeom prst="roundRect">
            <a:avLst/>
          </a:prstGeom>
          <a:solidFill>
            <a:srgbClr val="FCE4C8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Layer 10 output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Calibri"/>
              </a:rPr>
              <a:t>(B, 512, 15, 15)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3977639"/>
            <a:ext cx="2286000" cy="960120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Layer 5 output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Calibri"/>
              </a:rPr>
              <a:t>(B, 256, 30, 30)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600200"/>
            <a:ext cx="2011680" cy="960120"/>
          </a:xfrm>
          <a:prstGeom prst="roundRect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 Projection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3977639"/>
            <a:ext cx="2011680" cy="960120"/>
          </a:xfrm>
          <a:prstGeom prst="roundRect">
            <a:avLst/>
          </a:prstGeom>
          <a:solidFill>
            <a:srgbClr val="E8503A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Key &amp; Value Projection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1x1 conv, 256 to 512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2606040"/>
            <a:ext cx="2377440" cy="1371600"/>
          </a:xfrm>
          <a:prstGeom prst="roundRect">
            <a:avLst/>
          </a:prstGeom>
          <a:solidFill>
            <a:srgbClr val="F2A9D2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Scaled Dot-Product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Calibri"/>
              </a:rPr>
              <a:t>Cross-Attention</a:t>
            </a:r>
          </a:p>
          <a:p>
            <a:pPr algn="ctr"/>
            <a:r>
              <a:rPr sz="950" b="0">
                <a:solidFill>
                  <a:srgbClr val="000000"/>
                </a:solidFill>
                <a:latin typeface="Calibri"/>
              </a:rPr>
              <a:t>h = 8 heads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606040"/>
            <a:ext cx="1828800" cy="1371600"/>
          </a:xfrm>
          <a:prstGeom prst="roundRect">
            <a:avLst/>
          </a:prstGeom>
          <a:solidFill>
            <a:srgbClr val="A9D18E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Output Projection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Calibri"/>
              </a:rPr>
              <a:t>Add &amp; LayerNorm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0" y="2606040"/>
            <a:ext cx="1417320" cy="137160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(B, 512, 15, 15)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to BiFPN neck</a:t>
            </a:r>
          </a:p>
        </p:txBody>
      </p:sp>
      <p:cxnSp>
        <p:nvCxnSpPr>
          <p:cNvPr id="10" name="Connector 9"/>
          <p:cNvCxnSpPr>
            <a:stCxn id="3" idx="3"/>
            <a:endCxn id="5" idx="1"/>
          </p:cNvCxnSpPr>
          <p:nvPr/>
        </p:nvCxnSpPr>
        <p:spPr>
          <a:xfrm flipV="1">
            <a:off x="2697480" y="2080260"/>
            <a:ext cx="365760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4" idx="3"/>
            <a:endCxn id="6" idx="1"/>
          </p:cNvCxnSpPr>
          <p:nvPr/>
        </p:nvCxnSpPr>
        <p:spPr>
          <a:xfrm flipV="1">
            <a:off x="2697480" y="4457699"/>
            <a:ext cx="365760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5" idx="3"/>
            <a:endCxn id="7" idx="1"/>
          </p:cNvCxnSpPr>
          <p:nvPr/>
        </p:nvCxnSpPr>
        <p:spPr>
          <a:xfrm>
            <a:off x="5074920" y="2080260"/>
            <a:ext cx="502920" cy="121158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6" idx="3"/>
            <a:endCxn id="7" idx="1"/>
          </p:cNvCxnSpPr>
          <p:nvPr/>
        </p:nvCxnSpPr>
        <p:spPr>
          <a:xfrm flipV="1">
            <a:off x="5074920" y="3291840"/>
            <a:ext cx="502920" cy="1165859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7" idx="3"/>
            <a:endCxn id="8" idx="1"/>
          </p:cNvCxnSpPr>
          <p:nvPr/>
        </p:nvCxnSpPr>
        <p:spPr>
          <a:xfrm flipV="1">
            <a:off x="7955280" y="3291840"/>
            <a:ext cx="411480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8" idx="3"/>
            <a:endCxn id="9" idx="1"/>
          </p:cNvCxnSpPr>
          <p:nvPr/>
        </p:nvCxnSpPr>
        <p:spPr>
          <a:xfrm flipV="1">
            <a:off x="10195560" y="3291840"/>
            <a:ext cx="320040" cy="0"/>
          </a:xfrm>
          <a:prstGeom prst="line">
            <a:avLst/>
          </a:prstGeom>
          <a:ln w="22225">
            <a:solidFill>
              <a:srgbClr val="31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58064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95959"/>
                </a:solidFill>
                <a:latin typeface="Calibri"/>
              </a:rPr>
              <a:t>Query sequence length 225; key/value sequence length 900. The key/value source is a plain convolutional feature map, not an attention-refined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