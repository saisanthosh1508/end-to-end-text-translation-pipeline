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611327" y="3429000"/>
            <a:ext cx="373710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985037" y="2681579"/>
            <a:ext cx="0" cy="747421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11327" y="3429000"/>
            <a:ext cx="373710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85037" y="3429000"/>
            <a:ext cx="0" cy="74742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461191" y="2681579"/>
            <a:ext cx="355025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6216" y="2681579"/>
            <a:ext cx="0" cy="747421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61191" y="4176420"/>
            <a:ext cx="355025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816216" y="3429000"/>
            <a:ext cx="0" cy="74742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98943" y="3429000"/>
            <a:ext cx="177512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376455" y="1934159"/>
            <a:ext cx="0" cy="1494841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76455" y="1934159"/>
            <a:ext cx="17751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98943" y="3429000"/>
            <a:ext cx="355025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98943" y="3429000"/>
            <a:ext cx="177512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76455" y="3429000"/>
            <a:ext cx="0" cy="149484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76455" y="4923840"/>
            <a:ext cx="17751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30122" y="1934159"/>
            <a:ext cx="177512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07634" y="1934159"/>
            <a:ext cx="0" cy="1494841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07634" y="3429000"/>
            <a:ext cx="17751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30122" y="3429000"/>
            <a:ext cx="355025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30122" y="4923840"/>
            <a:ext cx="177512" cy="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207634" y="3429000"/>
            <a:ext cx="0" cy="1494840"/>
          </a:xfrm>
          <a:prstGeom prst="line">
            <a:avLst/>
          </a:prstGeom>
          <a:ln w="21590">
            <a:solidFill>
              <a:srgbClr val="25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07634" y="3429000"/>
            <a:ext cx="17751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4913" y="3429000"/>
            <a:ext cx="373710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03181" y="3429000"/>
            <a:ext cx="373710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06658" y="3429000"/>
            <a:ext cx="373710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9963" y="3718625"/>
            <a:ext cx="0" cy="1663009"/>
          </a:xfrm>
          <a:prstGeom prst="line">
            <a:avLst/>
          </a:prstGeom>
          <a:ln w="16510">
            <a:solidFill>
              <a:srgbClr val="6E8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9963" y="5381634"/>
            <a:ext cx="9071811" cy="0"/>
          </a:xfrm>
          <a:prstGeom prst="line">
            <a:avLst/>
          </a:prstGeom>
          <a:ln w="16510">
            <a:solidFill>
              <a:srgbClr val="6E8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991774" y="3643883"/>
            <a:ext cx="0" cy="1737751"/>
          </a:xfrm>
          <a:prstGeom prst="line">
            <a:avLst/>
          </a:prstGeom>
          <a:ln w="16510">
            <a:solidFill>
              <a:srgbClr val="6E8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28600" y="3139374"/>
            <a:ext cx="1382727" cy="57925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3970">
            <a:solidFill>
              <a:srgbClr val="8F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A2733"/>
                </a:solidFill>
                <a:latin typeface="Helvetica"/>
              </a:rPr>
              <a:t>Input feature map</a:t>
            </a:r>
          </a:p>
          <a:p>
            <a:pPr algn="ctr"/>
            <a:r>
              <a:rPr sz="750" b="1" i="0">
                <a:solidFill>
                  <a:srgbClr val="1A2733"/>
                </a:solidFill>
                <a:latin typeface="Helvetica"/>
              </a:rPr>
              <a:t>(B, C, W, H)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85037" y="2391954"/>
            <a:ext cx="1476154" cy="579250"/>
          </a:xfrm>
          <a:prstGeom prst="roundRect">
            <a:avLst>
              <a:gd name="adj" fmla="val 16000"/>
            </a:avLst>
          </a:prstGeom>
          <a:solidFill>
            <a:srgbClr val="E1EDF8"/>
          </a:solidFill>
          <a:ln w="1397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2202D"/>
                </a:solidFill>
                <a:latin typeface="Helvetica"/>
              </a:rPr>
              <a:t>Mean over channels</a:t>
            </a:r>
          </a:p>
          <a:p>
            <a:pPr algn="ctr"/>
            <a:r>
              <a:rPr sz="750" b="1" i="0">
                <a:solidFill>
                  <a:srgbClr val="12202D"/>
                </a:solidFill>
                <a:latin typeface="Helvetica"/>
              </a:rPr>
              <a:t>(B, 1, W, H)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85037" y="3886794"/>
            <a:ext cx="1476154" cy="579250"/>
          </a:xfrm>
          <a:prstGeom prst="roundRect">
            <a:avLst>
              <a:gd name="adj" fmla="val 16000"/>
            </a:avLst>
          </a:prstGeom>
          <a:solidFill>
            <a:srgbClr val="E1EDF8"/>
          </a:solidFill>
          <a:ln w="1397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2202D"/>
                </a:solidFill>
                <a:latin typeface="Helvetica"/>
              </a:rPr>
              <a:t>Max over channels</a:t>
            </a:r>
          </a:p>
          <a:p>
            <a:pPr algn="ctr"/>
            <a:r>
              <a:rPr sz="750" b="1" i="0">
                <a:solidFill>
                  <a:srgbClr val="12202D"/>
                </a:solidFill>
                <a:latin typeface="Helvetica"/>
              </a:rPr>
              <a:t>(B, 1, W, H)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16216" y="3139374"/>
            <a:ext cx="1382727" cy="579250"/>
          </a:xfrm>
          <a:prstGeom prst="roundRect">
            <a:avLst>
              <a:gd name="adj" fmla="val 16000"/>
            </a:avLst>
          </a:prstGeom>
          <a:solidFill>
            <a:srgbClr val="F5E6CC"/>
          </a:solidFill>
          <a:ln w="13970">
            <a:solidFill>
              <a:srgbClr val="B0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2E2410"/>
                </a:solidFill>
                <a:latin typeface="Helvetica"/>
              </a:rPr>
              <a:t>Concat</a:t>
            </a:r>
          </a:p>
          <a:p>
            <a:pPr algn="ctr"/>
            <a:r>
              <a:rPr sz="750" b="1" i="0">
                <a:solidFill>
                  <a:srgbClr val="2E2410"/>
                </a:solidFill>
                <a:latin typeface="Helvetica"/>
              </a:rPr>
              <a:t>(B, 2, W, H)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53968" y="1644534"/>
            <a:ext cx="1476154" cy="579250"/>
          </a:xfrm>
          <a:prstGeom prst="roundRect">
            <a:avLst>
              <a:gd name="adj" fmla="val 16000"/>
            </a:avLst>
          </a:prstGeom>
          <a:solidFill>
            <a:srgbClr val="BFD8EE"/>
          </a:solidFill>
          <a:ln w="13970">
            <a:solidFill>
              <a:srgbClr val="2C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0E1C27"/>
                </a:solidFill>
                <a:latin typeface="Helvetica"/>
              </a:rPr>
              <a:t>Conv 3x3, 2 to 1</a:t>
            </a:r>
          </a:p>
          <a:p>
            <a:pPr algn="ctr"/>
            <a:r>
              <a:rPr sz="750" b="1" i="0">
                <a:solidFill>
                  <a:srgbClr val="0E1C27"/>
                </a:solidFill>
                <a:latin typeface="Helvetica"/>
              </a:rPr>
              <a:t>(B, 1, W, H)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53968" y="3139374"/>
            <a:ext cx="1476154" cy="579250"/>
          </a:xfrm>
          <a:prstGeom prst="roundRect">
            <a:avLst>
              <a:gd name="adj" fmla="val 16000"/>
            </a:avLst>
          </a:prstGeom>
          <a:solidFill>
            <a:srgbClr val="BFD8EE"/>
          </a:solidFill>
          <a:ln w="13970">
            <a:solidFill>
              <a:srgbClr val="2C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0E1C27"/>
                </a:solidFill>
                <a:latin typeface="Helvetica"/>
              </a:rPr>
              <a:t>Conv 5x5, 2 to 1</a:t>
            </a:r>
          </a:p>
          <a:p>
            <a:pPr algn="ctr"/>
            <a:r>
              <a:rPr sz="750" b="1" i="0">
                <a:solidFill>
                  <a:srgbClr val="0E1C27"/>
                </a:solidFill>
                <a:latin typeface="Helvetica"/>
              </a:rPr>
              <a:t>(B, 1, W, H)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53968" y="4634214"/>
            <a:ext cx="1476154" cy="579250"/>
          </a:xfrm>
          <a:prstGeom prst="roundRect">
            <a:avLst>
              <a:gd name="adj" fmla="val 16000"/>
            </a:avLst>
          </a:prstGeom>
          <a:solidFill>
            <a:srgbClr val="BFD8EE"/>
          </a:solidFill>
          <a:ln w="13970">
            <a:solidFill>
              <a:srgbClr val="2C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0E1C27"/>
                </a:solidFill>
                <a:latin typeface="Helvetica"/>
              </a:rPr>
              <a:t>Conv 7x7, 2 to 1</a:t>
            </a:r>
          </a:p>
          <a:p>
            <a:pPr algn="ctr"/>
            <a:r>
              <a:rPr sz="750" b="1" i="0">
                <a:solidFill>
                  <a:srgbClr val="0E1C27"/>
                </a:solidFill>
                <a:latin typeface="Helvetica"/>
              </a:rPr>
              <a:t>(B, 1, W, H)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85147" y="3214116"/>
            <a:ext cx="429766" cy="429766"/>
          </a:xfrm>
          <a:prstGeom prst="roundRect">
            <a:avLst>
              <a:gd name="adj" fmla="val 16000"/>
            </a:avLst>
          </a:prstGeom>
          <a:solidFill>
            <a:srgbClr val="F5E6CC"/>
          </a:solidFill>
          <a:ln w="13970">
            <a:solidFill>
              <a:srgbClr val="B0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2E2410"/>
                </a:solidFill>
                <a:latin typeface="Helvetica"/>
              </a:rPr>
              <a:t>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8623" y="3139374"/>
            <a:ext cx="1214557" cy="579250"/>
          </a:xfrm>
          <a:prstGeom prst="roundRect">
            <a:avLst>
              <a:gd name="adj" fmla="val 16000"/>
            </a:avLst>
          </a:prstGeom>
          <a:solidFill>
            <a:srgbClr val="D2E4C6"/>
          </a:solidFill>
          <a:ln w="13970">
            <a:solidFill>
              <a:srgbClr val="5C8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82513"/>
                </a:solidFill>
                <a:latin typeface="Helvetica"/>
              </a:rPr>
              <a:t>Sigmoid</a:t>
            </a:r>
          </a:p>
          <a:p>
            <a:pPr algn="ctr"/>
            <a:r>
              <a:rPr sz="750" b="1" i="0">
                <a:solidFill>
                  <a:srgbClr val="182513"/>
                </a:solidFill>
                <a:latin typeface="Helvetica"/>
              </a:rPr>
              <a:t>(B, 1, W, H)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76891" y="3214116"/>
            <a:ext cx="429766" cy="429766"/>
          </a:xfrm>
          <a:prstGeom prst="roundRect">
            <a:avLst>
              <a:gd name="adj" fmla="val 16000"/>
            </a:avLst>
          </a:prstGeom>
          <a:solidFill>
            <a:srgbClr val="F5E6CC"/>
          </a:solidFill>
          <a:ln w="13970">
            <a:solidFill>
              <a:srgbClr val="B0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2E2410"/>
                </a:solidFill>
                <a:latin typeface="Helvetica"/>
              </a:rPr>
              <a:t>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80368" y="3139374"/>
            <a:ext cx="1382727" cy="579250"/>
          </a:xfrm>
          <a:prstGeom prst="roundRect">
            <a:avLst>
              <a:gd name="adj" fmla="val 16000"/>
            </a:avLst>
          </a:prstGeom>
          <a:solidFill>
            <a:srgbClr val="F3CFC8"/>
          </a:solidFill>
          <a:ln w="13970">
            <a:solidFill>
              <a:srgbClr val="B0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3A1610"/>
                </a:solidFill>
                <a:latin typeface="Helvetica"/>
              </a:rPr>
              <a:t>Output</a:t>
            </a:r>
          </a:p>
          <a:p>
            <a:pPr algn="ctr"/>
            <a:r>
              <a:rPr sz="750" b="1" i="0">
                <a:solidFill>
                  <a:srgbClr val="3A1610"/>
                </a:solidFill>
                <a:latin typeface="Helvetica"/>
              </a:rPr>
              <a:t>(B, C, W, H)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" y="1476365"/>
            <a:ext cx="5605650" cy="242911"/>
          </a:xfrm>
          <a:prstGeom prst="roundRect">
            <a:avLst>
              <a:gd name="adj" fmla="val 1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l"/>
            <a:r>
              <a:rPr sz="1125" b="1" i="0">
                <a:solidFill>
                  <a:srgbClr val="25384B"/>
                </a:solidFill>
                <a:latin typeface="Helvetica"/>
              </a:rPr>
              <a:t>Multi-scale spatial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