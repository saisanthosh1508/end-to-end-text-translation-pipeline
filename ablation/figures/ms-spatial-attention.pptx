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248967"/>
            <a:ext cx="11734495" cy="4360064"/>
          </a:xfrm>
          <a:prstGeom prst="roundRect">
            <a:avLst>
              <a:gd name="adj" fmla="val 16000"/>
            </a:avLst>
          </a:prstGeom>
          <a:solidFill>
            <a:srgbClr val="FDFDFE"/>
          </a:solidFill>
          <a:ln w="17780">
            <a:solidFill>
              <a:srgbClr val="7E9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789610" y="3500770"/>
            <a:ext cx="358853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2148463" y="2783064"/>
            <a:ext cx="0" cy="717706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789610" y="3500770"/>
            <a:ext cx="358853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48463" y="3500770"/>
            <a:ext cx="0" cy="717706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565933" y="2783064"/>
            <a:ext cx="340910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906843" y="2783064"/>
            <a:ext cx="0" cy="717706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65933" y="4218476"/>
            <a:ext cx="340910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3906843" y="3500770"/>
            <a:ext cx="0" cy="717706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234600" y="3500770"/>
            <a:ext cx="170455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405055" y="2065358"/>
            <a:ext cx="0" cy="1435412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405055" y="2065358"/>
            <a:ext cx="170455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234600" y="3500770"/>
            <a:ext cx="340910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234600" y="3500770"/>
            <a:ext cx="170455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05055" y="3500770"/>
            <a:ext cx="0" cy="1435412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05055" y="4936182"/>
            <a:ext cx="170455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992980" y="2065358"/>
            <a:ext cx="170455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163435" y="2065358"/>
            <a:ext cx="0" cy="1435412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163435" y="3500770"/>
            <a:ext cx="170455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992980" y="3500770"/>
            <a:ext cx="340910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992980" y="4936182"/>
            <a:ext cx="170455" cy="0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7163435" y="3500770"/>
            <a:ext cx="0" cy="1435412"/>
          </a:xfrm>
          <a:prstGeom prst="line">
            <a:avLst/>
          </a:prstGeom>
          <a:ln w="21590">
            <a:solidFill>
              <a:srgbClr val="2538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163435" y="3500770"/>
            <a:ext cx="170455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746571" y="3500770"/>
            <a:ext cx="358853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71697" y="3500770"/>
            <a:ext cx="358853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43231" y="3500770"/>
            <a:ext cx="358853" cy="0"/>
          </a:xfrm>
          <a:prstGeom prst="line">
            <a:avLst/>
          </a:prstGeom>
          <a:ln w="21590">
            <a:solidFill>
              <a:srgbClr val="2538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25732" y="3778881"/>
            <a:ext cx="0" cy="1596896"/>
          </a:xfrm>
          <a:prstGeom prst="line">
            <a:avLst/>
          </a:prstGeom>
          <a:ln w="16510">
            <a:solidFill>
              <a:srgbClr val="6E8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25732" y="5375777"/>
            <a:ext cx="8711158" cy="0"/>
          </a:xfrm>
          <a:prstGeom prst="line">
            <a:avLst/>
          </a:prstGeom>
          <a:ln w="16510">
            <a:solidFill>
              <a:srgbClr val="6E8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9836890" y="3707111"/>
            <a:ext cx="0" cy="1668666"/>
          </a:xfrm>
          <a:prstGeom prst="line">
            <a:avLst/>
          </a:prstGeom>
          <a:ln w="16510">
            <a:solidFill>
              <a:srgbClr val="6E839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61854" y="3222659"/>
            <a:ext cx="1327756" cy="556222"/>
          </a:xfrm>
          <a:prstGeom prst="roundRect">
            <a:avLst>
              <a:gd name="adj" fmla="val 16000"/>
            </a:avLst>
          </a:prstGeom>
          <a:solidFill>
            <a:srgbClr val="F4F6F8"/>
          </a:solidFill>
          <a:ln w="13970">
            <a:solidFill>
              <a:srgbClr val="8FA3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A2733"/>
                </a:solidFill>
                <a:latin typeface="Helvetica"/>
              </a:rPr>
              <a:t>Input feature map</a:t>
            </a:r>
          </a:p>
          <a:p>
            <a:pPr algn="ctr"/>
            <a:r>
              <a:rPr sz="750" b="1" i="0">
                <a:solidFill>
                  <a:srgbClr val="1A2733"/>
                </a:solidFill>
                <a:latin typeface="Helvetica"/>
              </a:rPr>
              <a:t>(B, C, W, 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48463" y="2504953"/>
            <a:ext cx="1417469" cy="556222"/>
          </a:xfrm>
          <a:prstGeom prst="roundRect">
            <a:avLst>
              <a:gd name="adj" fmla="val 16000"/>
            </a:avLst>
          </a:prstGeom>
          <a:solidFill>
            <a:srgbClr val="E1EDF8"/>
          </a:solidFill>
          <a:ln w="13970">
            <a:solidFill>
              <a:srgbClr val="3D6B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2202D"/>
                </a:solidFill>
                <a:latin typeface="Helvetica"/>
              </a:rPr>
              <a:t>Mean over channels</a:t>
            </a:r>
          </a:p>
          <a:p>
            <a:pPr algn="ctr"/>
            <a:r>
              <a:rPr sz="750" b="1" i="0">
                <a:solidFill>
                  <a:srgbClr val="12202D"/>
                </a:solidFill>
                <a:latin typeface="Helvetica"/>
              </a:rPr>
              <a:t>(B, 1, W, H)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48463" y="3940365"/>
            <a:ext cx="1417469" cy="556222"/>
          </a:xfrm>
          <a:prstGeom prst="roundRect">
            <a:avLst>
              <a:gd name="adj" fmla="val 16000"/>
            </a:avLst>
          </a:prstGeom>
          <a:solidFill>
            <a:srgbClr val="E1EDF8"/>
          </a:solidFill>
          <a:ln w="13970">
            <a:solidFill>
              <a:srgbClr val="3D6B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2202D"/>
                </a:solidFill>
                <a:latin typeface="Helvetica"/>
              </a:rPr>
              <a:t>Max over channels</a:t>
            </a:r>
          </a:p>
          <a:p>
            <a:pPr algn="ctr"/>
            <a:r>
              <a:rPr sz="750" b="1" i="0">
                <a:solidFill>
                  <a:srgbClr val="12202D"/>
                </a:solidFill>
                <a:latin typeface="Helvetica"/>
              </a:rPr>
              <a:t>(B, 1, W, H)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906843" y="3222659"/>
            <a:ext cx="1327756" cy="556222"/>
          </a:xfrm>
          <a:prstGeom prst="roundRect">
            <a:avLst>
              <a:gd name="adj" fmla="val 16000"/>
            </a:avLst>
          </a:prstGeom>
          <a:solidFill>
            <a:srgbClr val="F5E6CC"/>
          </a:solidFill>
          <a:ln w="13970">
            <a:solidFill>
              <a:srgbClr val="B0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2E2410"/>
                </a:solidFill>
                <a:latin typeface="Helvetica"/>
              </a:rPr>
              <a:t>Concat</a:t>
            </a:r>
          </a:p>
          <a:p>
            <a:pPr algn="ctr"/>
            <a:r>
              <a:rPr sz="750" b="1" i="0">
                <a:solidFill>
                  <a:srgbClr val="2E2410"/>
                </a:solidFill>
                <a:latin typeface="Helvetica"/>
              </a:rPr>
              <a:t>(B, 2, W, H)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575510" y="1787247"/>
            <a:ext cx="1417469" cy="556222"/>
          </a:xfrm>
          <a:prstGeom prst="roundRect">
            <a:avLst>
              <a:gd name="adj" fmla="val 16000"/>
            </a:avLst>
          </a:prstGeom>
          <a:solidFill>
            <a:srgbClr val="BFD8EE"/>
          </a:solidFill>
          <a:ln w="13970">
            <a:solidFill>
              <a:srgbClr val="2C5F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0E1C27"/>
                </a:solidFill>
                <a:latin typeface="Helvetica"/>
              </a:rPr>
              <a:t>Conv 3x3, 2 to 1</a:t>
            </a:r>
          </a:p>
          <a:p>
            <a:pPr algn="ctr"/>
            <a:r>
              <a:rPr sz="750" b="1" i="0">
                <a:solidFill>
                  <a:srgbClr val="0E1C27"/>
                </a:solidFill>
                <a:latin typeface="Helvetica"/>
              </a:rPr>
              <a:t>(B, 1, W, H)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75510" y="3222659"/>
            <a:ext cx="1417469" cy="556222"/>
          </a:xfrm>
          <a:prstGeom prst="roundRect">
            <a:avLst>
              <a:gd name="adj" fmla="val 16000"/>
            </a:avLst>
          </a:prstGeom>
          <a:solidFill>
            <a:srgbClr val="BFD8EE"/>
          </a:solidFill>
          <a:ln w="13970">
            <a:solidFill>
              <a:srgbClr val="2C5F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0E1C27"/>
                </a:solidFill>
                <a:latin typeface="Helvetica"/>
              </a:rPr>
              <a:t>Conv 5x5, 2 to 1</a:t>
            </a:r>
          </a:p>
          <a:p>
            <a:pPr algn="ctr"/>
            <a:r>
              <a:rPr sz="750" b="1" i="0">
                <a:solidFill>
                  <a:srgbClr val="0E1C27"/>
                </a:solidFill>
                <a:latin typeface="Helvetica"/>
              </a:rPr>
              <a:t>(B, 1, W, 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75510" y="4658071"/>
            <a:ext cx="1417469" cy="556222"/>
          </a:xfrm>
          <a:prstGeom prst="roundRect">
            <a:avLst>
              <a:gd name="adj" fmla="val 16000"/>
            </a:avLst>
          </a:prstGeom>
          <a:solidFill>
            <a:srgbClr val="BFD8EE"/>
          </a:solidFill>
          <a:ln w="13970">
            <a:solidFill>
              <a:srgbClr val="2C5F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0E1C27"/>
                </a:solidFill>
                <a:latin typeface="Helvetica"/>
              </a:rPr>
              <a:t>Conv 7x7, 2 to 1</a:t>
            </a:r>
          </a:p>
          <a:p>
            <a:pPr algn="ctr"/>
            <a:r>
              <a:rPr sz="750" b="1" i="0">
                <a:solidFill>
                  <a:srgbClr val="0E1C27"/>
                </a:solidFill>
                <a:latin typeface="Helvetica"/>
              </a:rPr>
              <a:t>(B, 1, W, H)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33890" y="3294430"/>
            <a:ext cx="412681" cy="412681"/>
          </a:xfrm>
          <a:prstGeom prst="roundRect">
            <a:avLst>
              <a:gd name="adj" fmla="val 16000"/>
            </a:avLst>
          </a:prstGeom>
          <a:solidFill>
            <a:srgbClr val="F5E6CC"/>
          </a:solidFill>
          <a:ln w="13970">
            <a:solidFill>
              <a:srgbClr val="B0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2E2410"/>
                </a:solidFill>
                <a:latin typeface="Helvetica"/>
              </a:rPr>
              <a:t>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05424" y="3222659"/>
            <a:ext cx="1166272" cy="556222"/>
          </a:xfrm>
          <a:prstGeom prst="roundRect">
            <a:avLst>
              <a:gd name="adj" fmla="val 16000"/>
            </a:avLst>
          </a:prstGeom>
          <a:solidFill>
            <a:srgbClr val="D2E4C6"/>
          </a:solidFill>
          <a:ln w="13970">
            <a:solidFill>
              <a:srgbClr val="5C87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182513"/>
                </a:solidFill>
                <a:latin typeface="Helvetica"/>
              </a:rPr>
              <a:t>Sigmoid</a:t>
            </a:r>
          </a:p>
          <a:p>
            <a:pPr algn="ctr"/>
            <a:r>
              <a:rPr sz="750" b="1" i="0">
                <a:solidFill>
                  <a:srgbClr val="182513"/>
                </a:solidFill>
                <a:latin typeface="Helvetica"/>
              </a:rPr>
              <a:t>(B, 1, W, H)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30550" y="3294430"/>
            <a:ext cx="412681" cy="412681"/>
          </a:xfrm>
          <a:prstGeom prst="roundRect">
            <a:avLst>
              <a:gd name="adj" fmla="val 16000"/>
            </a:avLst>
          </a:prstGeom>
          <a:solidFill>
            <a:srgbClr val="F5E6CC"/>
          </a:solidFill>
          <a:ln w="13970">
            <a:solidFill>
              <a:srgbClr val="B08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2E2410"/>
                </a:solidFill>
                <a:latin typeface="Helvetica"/>
              </a:rPr>
              <a:t>x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02084" y="3222659"/>
            <a:ext cx="1327756" cy="556222"/>
          </a:xfrm>
          <a:prstGeom prst="roundRect">
            <a:avLst>
              <a:gd name="adj" fmla="val 16000"/>
            </a:avLst>
          </a:prstGeom>
          <a:solidFill>
            <a:srgbClr val="F3CFC8"/>
          </a:solidFill>
          <a:ln w="13970">
            <a:solidFill>
              <a:srgbClr val="B05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ctr"/>
            <a:r>
              <a:rPr sz="900" b="1" i="0">
                <a:solidFill>
                  <a:srgbClr val="3A1610"/>
                </a:solidFill>
                <a:latin typeface="Helvetica"/>
              </a:rPr>
              <a:t>Output</a:t>
            </a:r>
          </a:p>
          <a:p>
            <a:pPr algn="ctr"/>
            <a:r>
              <a:rPr sz="750" b="1" i="0">
                <a:solidFill>
                  <a:srgbClr val="3A1610"/>
                </a:solidFill>
                <a:latin typeface="Helvetica"/>
              </a:rPr>
              <a:t>(B, C, W, H)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08026" y="1356623"/>
            <a:ext cx="5382795" cy="233254"/>
          </a:xfrm>
          <a:prstGeom prst="roundRect">
            <a:avLst>
              <a:gd name="adj" fmla="val 1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000" rIns="27000" tIns="0" bIns="0"/>
          <a:lstStyle/>
          <a:p>
            <a:pPr algn="l"/>
            <a:r>
              <a:rPr sz="1125" b="1" i="0">
                <a:solidFill>
                  <a:srgbClr val="25384B"/>
                </a:solidFill>
                <a:latin typeface="Helvetica"/>
              </a:rPr>
              <a:t>Multi-scale spatial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