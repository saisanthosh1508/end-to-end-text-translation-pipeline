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" y="2310170"/>
            <a:ext cx="11734495" cy="2237658"/>
          </a:xfrm>
          <a:prstGeom prst="roundRect">
            <a:avLst>
              <a:gd name="adj" fmla="val 16000"/>
            </a:avLst>
          </a:prstGeom>
          <a:solidFill>
            <a:srgbClr val="FDFDFE"/>
          </a:solidFill>
          <a:ln w="17780">
            <a:solidFill>
              <a:srgbClr val="7E9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29136" y="2838751"/>
            <a:ext cx="4616272" cy="828110"/>
          </a:xfrm>
          <a:prstGeom prst="roundRect">
            <a:avLst>
              <a:gd name="adj" fmla="val 16000"/>
            </a:avLst>
          </a:prstGeom>
          <a:noFill/>
          <a:ln w="13970">
            <a:solidFill>
              <a:srgbClr val="A2B2C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825" b="0" i="1">
                <a:solidFill>
                  <a:srgbClr val="5F7488"/>
                </a:solidFill>
                <a:latin typeface="Helvetica"/>
              </a:rPr>
              <a:t>Bottleneck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761484" y="3252806"/>
            <a:ext cx="352387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417704" y="3252806"/>
            <a:ext cx="352387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162021" y="3252806"/>
            <a:ext cx="352387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360138" y="3252806"/>
            <a:ext cx="352387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104454" y="3252806"/>
            <a:ext cx="352388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602100" y="3252806"/>
            <a:ext cx="352387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59733" y="3252806"/>
            <a:ext cx="352387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09568" y="3525906"/>
            <a:ext cx="0" cy="792871"/>
          </a:xfrm>
          <a:prstGeom prst="line">
            <a:avLst/>
          </a:prstGeom>
          <a:ln w="16510">
            <a:solidFill>
              <a:srgbClr val="6E8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09568" y="4318777"/>
            <a:ext cx="9047542" cy="0"/>
          </a:xfrm>
          <a:prstGeom prst="line">
            <a:avLst/>
          </a:prstGeom>
          <a:ln w="16510">
            <a:solidFill>
              <a:srgbClr val="6E8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0157110" y="3455429"/>
            <a:ext cx="0" cy="863348"/>
          </a:xfrm>
          <a:prstGeom prst="line">
            <a:avLst/>
          </a:prstGeom>
          <a:ln w="16510">
            <a:solidFill>
              <a:srgbClr val="6E83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57651" y="2979706"/>
            <a:ext cx="1303832" cy="546200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 w="13970">
            <a:solidFill>
              <a:srgbClr val="8FA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1A2733"/>
                </a:solidFill>
                <a:latin typeface="Helvetica"/>
              </a:rPr>
              <a:t>Input feature map</a:t>
            </a:r>
          </a:p>
          <a:p>
            <a:pPr algn="ctr"/>
            <a:r>
              <a:rPr sz="750" b="1" i="0">
                <a:solidFill>
                  <a:srgbClr val="1A2733"/>
                </a:solidFill>
                <a:latin typeface="Helvetica"/>
              </a:rPr>
              <a:t>(B, C, W, H)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13871" y="2979706"/>
            <a:ext cx="1303832" cy="546200"/>
          </a:xfrm>
          <a:prstGeom prst="roundRect">
            <a:avLst>
              <a:gd name="adj" fmla="val 16000"/>
            </a:avLst>
          </a:prstGeom>
          <a:solidFill>
            <a:srgbClr val="E1EDF8"/>
          </a:solidFill>
          <a:ln w="13970">
            <a:solidFill>
              <a:srgbClr val="3D6B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12202D"/>
                </a:solidFill>
                <a:latin typeface="Helvetica"/>
              </a:rPr>
              <a:t>Adaptive avg pool</a:t>
            </a:r>
          </a:p>
          <a:p>
            <a:pPr algn="ctr"/>
            <a:r>
              <a:rPr sz="750" b="1" i="0">
                <a:solidFill>
                  <a:srgbClr val="12202D"/>
                </a:solidFill>
                <a:latin typeface="Helvetica"/>
              </a:rPr>
              <a:t>(B, C, 1, 1)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70091" y="2979706"/>
            <a:ext cx="1391929" cy="546200"/>
          </a:xfrm>
          <a:prstGeom prst="roundRect">
            <a:avLst>
              <a:gd name="adj" fmla="val 16000"/>
            </a:avLst>
          </a:prstGeom>
          <a:solidFill>
            <a:srgbClr val="BFD8EE"/>
          </a:solidFill>
          <a:ln w="13970">
            <a:solidFill>
              <a:srgbClr val="2C5F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0E1C27"/>
                </a:solidFill>
                <a:latin typeface="Helvetica"/>
              </a:rPr>
              <a:t>Conv 1x1, C to C/r</a:t>
            </a:r>
          </a:p>
          <a:p>
            <a:pPr algn="ctr"/>
            <a:r>
              <a:rPr sz="750" b="1" i="0">
                <a:solidFill>
                  <a:srgbClr val="0E1C27"/>
                </a:solidFill>
                <a:latin typeface="Helvetica"/>
              </a:rPr>
              <a:t>(B, C/r, 1, 1)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14408" y="2979706"/>
            <a:ext cx="845729" cy="546200"/>
          </a:xfrm>
          <a:prstGeom prst="roundRect">
            <a:avLst>
              <a:gd name="adj" fmla="val 16000"/>
            </a:avLst>
          </a:prstGeom>
          <a:solidFill>
            <a:srgbClr val="D2E4C6"/>
          </a:solidFill>
          <a:ln w="13970">
            <a:solidFill>
              <a:srgbClr val="5C87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182513"/>
                </a:solidFill>
                <a:latin typeface="Helvetica"/>
              </a:rPr>
              <a:t>ReLU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12525" y="2979706"/>
            <a:ext cx="1391929" cy="546200"/>
          </a:xfrm>
          <a:prstGeom prst="roundRect">
            <a:avLst>
              <a:gd name="adj" fmla="val 16000"/>
            </a:avLst>
          </a:prstGeom>
          <a:solidFill>
            <a:srgbClr val="BFD8EE"/>
          </a:solidFill>
          <a:ln w="13970">
            <a:solidFill>
              <a:srgbClr val="2C5F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0E1C27"/>
                </a:solidFill>
                <a:latin typeface="Helvetica"/>
              </a:rPr>
              <a:t>Conv 1x1, C/r to C</a:t>
            </a:r>
          </a:p>
          <a:p>
            <a:pPr algn="ctr"/>
            <a:r>
              <a:rPr sz="750" b="1" i="0">
                <a:solidFill>
                  <a:srgbClr val="0E1C27"/>
                </a:solidFill>
                <a:latin typeface="Helvetica"/>
              </a:rPr>
              <a:t>(B, C, 1, 1)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56842" y="2979706"/>
            <a:ext cx="1145258" cy="546200"/>
          </a:xfrm>
          <a:prstGeom prst="roundRect">
            <a:avLst>
              <a:gd name="adj" fmla="val 16000"/>
            </a:avLst>
          </a:prstGeom>
          <a:solidFill>
            <a:srgbClr val="D2E4C6"/>
          </a:solidFill>
          <a:ln w="13970">
            <a:solidFill>
              <a:srgbClr val="5C87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182513"/>
                </a:solidFill>
                <a:latin typeface="Helvetica"/>
              </a:rPr>
              <a:t>Sigmoid</a:t>
            </a:r>
          </a:p>
          <a:p>
            <a:pPr algn="ctr"/>
            <a:r>
              <a:rPr sz="750" b="1" i="0">
                <a:solidFill>
                  <a:srgbClr val="182513"/>
                </a:solidFill>
                <a:latin typeface="Helvetica"/>
              </a:rPr>
              <a:t>(B, C, 1, 1)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54487" y="3050183"/>
            <a:ext cx="405245" cy="405245"/>
          </a:xfrm>
          <a:prstGeom prst="roundRect">
            <a:avLst>
              <a:gd name="adj" fmla="val 16000"/>
            </a:avLst>
          </a:prstGeom>
          <a:solidFill>
            <a:srgbClr val="F5E6CC"/>
          </a:solidFill>
          <a:ln w="13970">
            <a:solidFill>
              <a:srgbClr val="B08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2E2410"/>
                </a:solidFill>
                <a:latin typeface="Helvetica"/>
              </a:rPr>
              <a:t>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712120" y="2979706"/>
            <a:ext cx="1021923" cy="546200"/>
          </a:xfrm>
          <a:prstGeom prst="roundRect">
            <a:avLst>
              <a:gd name="adj" fmla="val 16000"/>
            </a:avLst>
          </a:prstGeom>
          <a:solidFill>
            <a:srgbClr val="F3CFC8"/>
          </a:solidFill>
          <a:ln w="13970">
            <a:solidFill>
              <a:srgbClr val="B05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3A1610"/>
                </a:solidFill>
                <a:latin typeface="Helvetica"/>
              </a:rPr>
              <a:t>Output</a:t>
            </a:r>
          </a:p>
          <a:p>
            <a:pPr algn="ctr"/>
            <a:r>
              <a:rPr sz="750" b="1" i="0">
                <a:solidFill>
                  <a:srgbClr val="3A1610"/>
                </a:solidFill>
                <a:latin typeface="Helvetica"/>
              </a:rPr>
              <a:t>(B, C, W, H)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4793" y="2415886"/>
            <a:ext cx="5285808" cy="229051"/>
          </a:xfrm>
          <a:prstGeom prst="roundRect">
            <a:avLst>
              <a:gd name="adj" fmla="val 1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l"/>
            <a:r>
              <a:rPr sz="1125" b="1" i="0">
                <a:solidFill>
                  <a:srgbClr val="25384B"/>
                </a:solidFill>
                <a:latin typeface="Helvetica"/>
              </a:rPr>
              <a:t>Channel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