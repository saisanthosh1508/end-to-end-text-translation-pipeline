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585401" y="3419832"/>
            <a:ext cx="366702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308904" y="3419832"/>
            <a:ext cx="36670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124084" y="3419832"/>
            <a:ext cx="36670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370874" y="3419832"/>
            <a:ext cx="36670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86054" y="3419832"/>
            <a:ext cx="36670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44542" y="3419832"/>
            <a:ext cx="36670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532953" y="3419832"/>
            <a:ext cx="366703" cy="0"/>
          </a:xfrm>
          <a:prstGeom prst="line">
            <a:avLst/>
          </a:prstGeom>
          <a:ln w="21590">
            <a:solidFill>
              <a:srgbClr val="253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7000" y="3704027"/>
            <a:ext cx="0" cy="825081"/>
          </a:xfrm>
          <a:prstGeom prst="line">
            <a:avLst/>
          </a:prstGeom>
          <a:ln w="16510">
            <a:solidFill>
              <a:srgbClr val="6E8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7000" y="4529108"/>
            <a:ext cx="9415099" cy="0"/>
          </a:xfrm>
          <a:prstGeom prst="line">
            <a:avLst/>
          </a:prstGeom>
          <a:ln w="16510">
            <a:solidFill>
              <a:srgbClr val="6E8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322099" y="3630686"/>
            <a:ext cx="0" cy="898422"/>
          </a:xfrm>
          <a:prstGeom prst="line">
            <a:avLst/>
          </a:prstGeom>
          <a:ln w="16510">
            <a:solidFill>
              <a:srgbClr val="6E8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8600" y="3135637"/>
            <a:ext cx="1356801" cy="568389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3970">
            <a:solidFill>
              <a:srgbClr val="8F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A2733"/>
                </a:solidFill>
                <a:latin typeface="Helvetica"/>
              </a:rPr>
              <a:t>Input feature map</a:t>
            </a:r>
          </a:p>
          <a:p>
            <a:pPr algn="ctr"/>
            <a:r>
              <a:rPr sz="750" b="1" i="0">
                <a:solidFill>
                  <a:srgbClr val="1A2733"/>
                </a:solidFill>
                <a:latin typeface="Helvetica"/>
              </a:rPr>
              <a:t>(B, C, W, 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2103" y="3135637"/>
            <a:ext cx="1356801" cy="568389"/>
          </a:xfrm>
          <a:prstGeom prst="roundRect">
            <a:avLst>
              <a:gd name="adj" fmla="val 16000"/>
            </a:avLst>
          </a:prstGeom>
          <a:solidFill>
            <a:srgbClr val="E1EDF8"/>
          </a:solidFill>
          <a:ln w="13970">
            <a:solidFill>
              <a:srgbClr val="3D6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2202D"/>
                </a:solidFill>
                <a:latin typeface="Helvetica"/>
              </a:rPr>
              <a:t>Adaptive avg pool</a:t>
            </a:r>
          </a:p>
          <a:p>
            <a:pPr algn="ctr"/>
            <a:r>
              <a:rPr sz="750" b="1" i="0">
                <a:solidFill>
                  <a:srgbClr val="12202D"/>
                </a:solidFill>
                <a:latin typeface="Helvetica"/>
              </a:rPr>
              <a:t>(B, C, 1,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607" y="3135637"/>
            <a:ext cx="1448476" cy="568389"/>
          </a:xfrm>
          <a:prstGeom prst="roundRect">
            <a:avLst>
              <a:gd name="adj" fmla="val 16000"/>
            </a:avLst>
          </a:prstGeom>
          <a:solidFill>
            <a:srgbClr val="BFD8EE"/>
          </a:solidFill>
          <a:ln w="13970">
            <a:solidFill>
              <a:srgbClr val="2C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0E1C27"/>
                </a:solidFill>
                <a:latin typeface="Helvetica"/>
              </a:rPr>
              <a:t>Conv 1x1, C to C/r</a:t>
            </a:r>
          </a:p>
          <a:p>
            <a:pPr algn="ctr"/>
            <a:r>
              <a:rPr sz="750" b="1" i="0">
                <a:solidFill>
                  <a:srgbClr val="0E1C27"/>
                </a:solidFill>
                <a:latin typeface="Helvetica"/>
              </a:rPr>
              <a:t>(B, C/r, 1, 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0787" y="3135637"/>
            <a:ext cx="880087" cy="568389"/>
          </a:xfrm>
          <a:prstGeom prst="roundRect">
            <a:avLst>
              <a:gd name="adj" fmla="val 16000"/>
            </a:avLst>
          </a:prstGeom>
          <a:solidFill>
            <a:srgbClr val="D2E4C6"/>
          </a:solidFill>
          <a:ln w="13970">
            <a:solidFill>
              <a:srgbClr val="5C8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82513"/>
                </a:solidFill>
                <a:latin typeface="Helvetica"/>
              </a:rPr>
              <a:t>ReLU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7577" y="3135637"/>
            <a:ext cx="1448476" cy="568389"/>
          </a:xfrm>
          <a:prstGeom prst="roundRect">
            <a:avLst>
              <a:gd name="adj" fmla="val 16000"/>
            </a:avLst>
          </a:prstGeom>
          <a:solidFill>
            <a:srgbClr val="BFD8EE"/>
          </a:solidFill>
          <a:ln w="13970">
            <a:solidFill>
              <a:srgbClr val="2C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0E1C27"/>
                </a:solidFill>
                <a:latin typeface="Helvetica"/>
              </a:rPr>
              <a:t>Conv 1x1, C/r to C</a:t>
            </a:r>
          </a:p>
          <a:p>
            <a:pPr algn="ctr"/>
            <a:r>
              <a:rPr sz="750" b="1" i="0">
                <a:solidFill>
                  <a:srgbClr val="0E1C27"/>
                </a:solidFill>
                <a:latin typeface="Helvetica"/>
              </a:rPr>
              <a:t>(B, C, 1,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52757" y="3135637"/>
            <a:ext cx="1191784" cy="568389"/>
          </a:xfrm>
          <a:prstGeom prst="roundRect">
            <a:avLst>
              <a:gd name="adj" fmla="val 16000"/>
            </a:avLst>
          </a:prstGeom>
          <a:solidFill>
            <a:srgbClr val="D2E4C6"/>
          </a:solidFill>
          <a:ln w="13970">
            <a:solidFill>
              <a:srgbClr val="5C8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182513"/>
                </a:solidFill>
                <a:latin typeface="Helvetica"/>
              </a:rPr>
              <a:t>Sigmoid</a:t>
            </a:r>
          </a:p>
          <a:p>
            <a:pPr algn="ctr"/>
            <a:r>
              <a:rPr sz="750" b="1" i="0">
                <a:solidFill>
                  <a:srgbClr val="182513"/>
                </a:solidFill>
                <a:latin typeface="Helvetica"/>
              </a:rPr>
              <a:t>(B, C, 1, 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11245" y="3208978"/>
            <a:ext cx="421708" cy="421708"/>
          </a:xfrm>
          <a:prstGeom prst="roundRect">
            <a:avLst>
              <a:gd name="adj" fmla="val 16000"/>
            </a:avLst>
          </a:prstGeom>
          <a:solidFill>
            <a:srgbClr val="F5E6CC"/>
          </a:solidFill>
          <a:ln w="13970">
            <a:solidFill>
              <a:srgbClr val="B0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2E2410"/>
                </a:solidFill>
                <a:latin typeface="Helvetica"/>
              </a:rPr>
              <a:t>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9656" y="3135637"/>
            <a:ext cx="1063438" cy="568389"/>
          </a:xfrm>
          <a:prstGeom prst="roundRect">
            <a:avLst>
              <a:gd name="adj" fmla="val 16000"/>
            </a:avLst>
          </a:prstGeom>
          <a:solidFill>
            <a:srgbClr val="F3CFC8"/>
          </a:solidFill>
          <a:ln w="13970">
            <a:solidFill>
              <a:srgbClr val="B050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ctr"/>
            <a:r>
              <a:rPr sz="900" b="1" i="0">
                <a:solidFill>
                  <a:srgbClr val="3A1610"/>
                </a:solidFill>
                <a:latin typeface="Helvetica"/>
              </a:rPr>
              <a:t>Output</a:t>
            </a:r>
          </a:p>
          <a:p>
            <a:pPr algn="ctr"/>
            <a:r>
              <a:rPr sz="750" b="1" i="0">
                <a:solidFill>
                  <a:srgbClr val="3A1610"/>
                </a:solidFill>
                <a:latin typeface="Helvetica"/>
              </a:rPr>
              <a:t>(B, C, W, 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2328891"/>
            <a:ext cx="5500544" cy="238356"/>
          </a:xfrm>
          <a:prstGeom prst="roundRect">
            <a:avLst>
              <a:gd name="adj" fmla="val 1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0" bIns="0"/>
          <a:lstStyle/>
          <a:p>
            <a:pPr algn="l"/>
            <a:r>
              <a:rPr sz="1125" b="1" i="0">
                <a:solidFill>
                  <a:srgbClr val="25384B"/>
                </a:solidFill>
                <a:latin typeface="Helvetica"/>
              </a:rPr>
              <a:t>Channel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