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002520"/>
            <a:ext cx="11734495" cy="2852959"/>
          </a:xfrm>
          <a:prstGeom prst="roundRect">
            <a:avLst>
              <a:gd name="adj" fmla="val 16000"/>
            </a:avLst>
          </a:prstGeom>
          <a:solidFill>
            <a:srgbClr val="FDFDFE"/>
          </a:solidFill>
          <a:ln w="17780">
            <a:solidFill>
              <a:srgbClr val="7E9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875844" y="3012943"/>
            <a:ext cx="339638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5844" y="4371495"/>
            <a:ext cx="339638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57053" y="4371495"/>
            <a:ext cx="339638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57053" y="3012943"/>
            <a:ext cx="2020846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77899" y="3012943"/>
            <a:ext cx="0" cy="679276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38261" y="4371495"/>
            <a:ext cx="339638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577899" y="3692219"/>
            <a:ext cx="0" cy="679276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89288" y="3692219"/>
            <a:ext cx="322657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68605" y="3692219"/>
            <a:ext cx="322657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247922" y="3692219"/>
            <a:ext cx="322657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886267" y="2511977"/>
            <a:ext cx="0" cy="237746"/>
          </a:xfrm>
          <a:prstGeom prst="line">
            <a:avLst/>
          </a:prstGeom>
          <a:ln w="16510">
            <a:solidFill>
              <a:srgbClr val="6E8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86267" y="2511977"/>
            <a:ext cx="6733325" cy="0"/>
          </a:xfrm>
          <a:prstGeom prst="line">
            <a:avLst/>
          </a:prstGeom>
          <a:ln w="16510">
            <a:solidFill>
              <a:srgbClr val="6E8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19592" y="2511977"/>
            <a:ext cx="0" cy="917023"/>
          </a:xfrm>
          <a:prstGeom prst="line">
            <a:avLst/>
          </a:prstGeom>
          <a:ln w="16510">
            <a:solidFill>
              <a:srgbClr val="6E8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9364" y="2749723"/>
            <a:ext cx="1426479" cy="526439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3970">
            <a:solidFill>
              <a:srgbClr val="8F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A2733"/>
                </a:solidFill>
                <a:latin typeface="Helvetica"/>
              </a:rPr>
              <a:t>P5/32 backbone output</a:t>
            </a:r>
          </a:p>
          <a:p>
            <a:pPr algn="ctr"/>
            <a:r>
              <a:rPr sz="750" b="1" i="0">
                <a:solidFill>
                  <a:srgbClr val="1A2733"/>
                </a:solidFill>
                <a:latin typeface="Helvetica"/>
              </a:rPr>
              <a:t>(B, 512, 15, 15)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364" y="4108276"/>
            <a:ext cx="1426479" cy="526439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3970">
            <a:solidFill>
              <a:srgbClr val="8F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A2733"/>
                </a:solidFill>
                <a:latin typeface="Helvetica"/>
              </a:rPr>
              <a:t>P4/16 backbone output</a:t>
            </a:r>
          </a:p>
          <a:p>
            <a:pPr algn="ctr"/>
            <a:r>
              <a:rPr sz="750" b="1" i="0">
                <a:solidFill>
                  <a:srgbClr val="1A2733"/>
                </a:solidFill>
                <a:latin typeface="Helvetica"/>
              </a:rPr>
              <a:t>(B, 256, 30, 30)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15482" y="2749723"/>
            <a:ext cx="1341570" cy="526439"/>
          </a:xfrm>
          <a:prstGeom prst="roundRect">
            <a:avLst>
              <a:gd name="adj" fmla="val 16000"/>
            </a:avLst>
          </a:prstGeom>
          <a:solidFill>
            <a:srgbClr val="E0CBEE"/>
          </a:solidFill>
          <a:ln w="13970">
            <a:solidFill>
              <a:srgbClr val="6C4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22142E"/>
                </a:solidFill>
                <a:latin typeface="Helvetica"/>
              </a:rPr>
              <a:t>Query</a:t>
            </a:r>
          </a:p>
          <a:p>
            <a:pPr algn="ctr"/>
            <a:r>
              <a:rPr sz="750" b="1" i="0">
                <a:solidFill>
                  <a:srgbClr val="22142E"/>
                </a:solidFill>
                <a:latin typeface="Helvetica"/>
              </a:rPr>
              <a:t>225 tokens, d=512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15482" y="4108276"/>
            <a:ext cx="1341570" cy="526439"/>
          </a:xfrm>
          <a:prstGeom prst="roundRect">
            <a:avLst>
              <a:gd name="adj" fmla="val 16000"/>
            </a:avLst>
          </a:prstGeom>
          <a:solidFill>
            <a:srgbClr val="BFD8EE"/>
          </a:solidFill>
          <a:ln w="13970">
            <a:solidFill>
              <a:srgbClr val="2C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0E1C27"/>
                </a:solidFill>
                <a:latin typeface="Helvetica"/>
              </a:rPr>
              <a:t>Conv 1x1, 256 to 512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96691" y="4108276"/>
            <a:ext cx="1341570" cy="526439"/>
          </a:xfrm>
          <a:prstGeom prst="roundRect">
            <a:avLst>
              <a:gd name="adj" fmla="val 16000"/>
            </a:avLst>
          </a:prstGeom>
          <a:solidFill>
            <a:srgbClr val="E0CBEE"/>
          </a:solidFill>
          <a:ln w="13970">
            <a:solidFill>
              <a:srgbClr val="6C4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22142E"/>
                </a:solidFill>
                <a:latin typeface="Helvetica"/>
              </a:rPr>
              <a:t>Key and Value</a:t>
            </a:r>
          </a:p>
          <a:p>
            <a:pPr algn="ctr"/>
            <a:r>
              <a:rPr sz="750" b="1" i="0">
                <a:solidFill>
                  <a:srgbClr val="22142E"/>
                </a:solidFill>
                <a:latin typeface="Helvetica"/>
              </a:rPr>
              <a:t>900 tokens, d=512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99" y="3429000"/>
            <a:ext cx="1511389" cy="526439"/>
          </a:xfrm>
          <a:prstGeom prst="roundRect">
            <a:avLst>
              <a:gd name="adj" fmla="val 16000"/>
            </a:avLst>
          </a:prstGeom>
          <a:solidFill>
            <a:srgbClr val="F8D79A"/>
          </a:solidFill>
          <a:ln w="13970">
            <a:solidFill>
              <a:srgbClr val="C08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332508"/>
                </a:solidFill>
                <a:latin typeface="Helvetica"/>
              </a:rPr>
              <a:t>Scaled dot-product</a:t>
            </a:r>
          </a:p>
          <a:p>
            <a:pPr algn="ctr"/>
            <a:r>
              <a:rPr sz="750" b="1" i="0">
                <a:solidFill>
                  <a:srgbClr val="332508"/>
                </a:solidFill>
                <a:latin typeface="Helvetica"/>
              </a:rPr>
              <a:t>attention, h=8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1945" y="3429000"/>
            <a:ext cx="1256660" cy="526439"/>
          </a:xfrm>
          <a:prstGeom prst="roundRect">
            <a:avLst>
              <a:gd name="adj" fmla="val 16000"/>
            </a:avLst>
          </a:prstGeom>
          <a:solidFill>
            <a:srgbClr val="BFD8EE"/>
          </a:solidFill>
          <a:ln w="13970">
            <a:solidFill>
              <a:srgbClr val="2C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0E1C27"/>
                </a:solidFill>
                <a:latin typeface="Helvetica"/>
              </a:rPr>
              <a:t>Output projection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1262" y="3429000"/>
            <a:ext cx="1256660" cy="526439"/>
          </a:xfrm>
          <a:prstGeom prst="roundRect">
            <a:avLst>
              <a:gd name="adj" fmla="val 16000"/>
            </a:avLst>
          </a:prstGeom>
          <a:solidFill>
            <a:srgbClr val="D2E4C6"/>
          </a:solidFill>
          <a:ln w="13970">
            <a:solidFill>
              <a:srgbClr val="5C8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82513"/>
                </a:solidFill>
                <a:latin typeface="Helvetica"/>
              </a:rPr>
              <a:t>Add and LayerNorm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70579" y="3429000"/>
            <a:ext cx="1171751" cy="526439"/>
          </a:xfrm>
          <a:prstGeom prst="roundRect">
            <a:avLst>
              <a:gd name="adj" fmla="val 16000"/>
            </a:avLst>
          </a:prstGeom>
          <a:solidFill>
            <a:srgbClr val="F3CFC8"/>
          </a:solidFill>
          <a:ln w="13970">
            <a:solidFill>
              <a:srgbClr val="B0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3A1610"/>
                </a:solidFill>
                <a:latin typeface="Helvetica"/>
              </a:rPr>
              <a:t>Output</a:t>
            </a:r>
          </a:p>
          <a:p>
            <a:pPr algn="ctr"/>
            <a:r>
              <a:rPr sz="750" b="1" i="0">
                <a:solidFill>
                  <a:srgbClr val="3A1610"/>
                </a:solidFill>
                <a:latin typeface="Helvetica"/>
              </a:rPr>
              <a:t>(B, 512, 15, 15)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8419" y="2104411"/>
            <a:ext cx="5094570" cy="220764"/>
          </a:xfrm>
          <a:prstGeom prst="roundRect">
            <a:avLst>
              <a:gd name="adj" fmla="val 1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l"/>
            <a:r>
              <a:rPr sz="1125" b="1" i="0">
                <a:solidFill>
                  <a:srgbClr val="25384B"/>
                </a:solidFill>
                <a:latin typeface="Helvetica"/>
              </a:rPr>
              <a:t>Cross-attention block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